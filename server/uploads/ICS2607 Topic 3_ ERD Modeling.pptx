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2" r:id="rId1"/>
  </p:sldMasterIdLst>
  <p:notesMasterIdLst>
    <p:notesMasterId r:id="rId32"/>
  </p:notesMasterIdLst>
  <p:sldIdLst>
    <p:sldId id="256" r:id="rId2"/>
    <p:sldId id="257" r:id="rId3"/>
    <p:sldId id="258" r:id="rId4"/>
    <p:sldId id="260" r:id="rId5"/>
    <p:sldId id="261" r:id="rId6"/>
    <p:sldId id="317" r:id="rId7"/>
    <p:sldId id="318" r:id="rId8"/>
    <p:sldId id="336" r:id="rId9"/>
    <p:sldId id="320" r:id="rId10"/>
    <p:sldId id="321" r:id="rId11"/>
    <p:sldId id="322" r:id="rId12"/>
    <p:sldId id="323" r:id="rId13"/>
    <p:sldId id="324" r:id="rId14"/>
    <p:sldId id="280" r:id="rId15"/>
    <p:sldId id="325" r:id="rId16"/>
    <p:sldId id="281" r:id="rId17"/>
    <p:sldId id="326" r:id="rId18"/>
    <p:sldId id="282" r:id="rId19"/>
    <p:sldId id="327" r:id="rId20"/>
    <p:sldId id="328" r:id="rId21"/>
    <p:sldId id="329" r:id="rId22"/>
    <p:sldId id="330" r:id="rId23"/>
    <p:sldId id="331" r:id="rId24"/>
    <p:sldId id="332" r:id="rId25"/>
    <p:sldId id="333" r:id="rId26"/>
    <p:sldId id="334" r:id="rId27"/>
    <p:sldId id="285" r:id="rId28"/>
    <p:sldId id="335" r:id="rId29"/>
    <p:sldId id="337" r:id="rId30"/>
    <p:sldId id="305" r:id="rId31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entury Gothic" panose="020B0502020202020204" pitchFamily="34" charset="0"/>
      <p:regular r:id="rId37"/>
      <p:bold r:id="rId38"/>
      <p:italic r:id="rId39"/>
      <p:boldItalic r:id="rId40"/>
    </p:embeddedFont>
    <p:embeddedFont>
      <p:font typeface="Poppins" panose="00000500000000000000" pitchFamily="2" charset="0"/>
      <p:regular r:id="rId41"/>
      <p:bold r:id="rId42"/>
      <p:italic r:id="rId43"/>
      <p:boldItalic r:id="rId44"/>
    </p:embeddedFont>
    <p:embeddedFont>
      <p:font typeface="Poppins Medium" panose="00000600000000000000" pitchFamily="2" charset="0"/>
      <p:regular r:id="rId45"/>
      <p:bold r:id="rId46"/>
      <p:italic r:id="rId47"/>
      <p:boldItalic r:id="rId48"/>
    </p:embeddedFont>
    <p:embeddedFont>
      <p:font typeface="Red Hat Display" panose="020B0604020202020204" charset="0"/>
      <p:regular r:id="rId49"/>
      <p:bold r:id="rId50"/>
      <p:italic r:id="rId51"/>
      <p:boldItalic r:id="rId52"/>
    </p:embeddedFont>
    <p:embeddedFont>
      <p:font typeface="Roboto" panose="02000000000000000000" pitchFamily="2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29FD01-B2BF-4035-A695-1DC4AE7C5FC1}">
  <a:tblStyle styleId="{D229FD01-B2BF-4035-A695-1DC4AE7C5F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83041" autoAdjust="0"/>
  </p:normalViewPr>
  <p:slideViewPr>
    <p:cSldViewPr snapToGrid="0">
      <p:cViewPr varScale="1">
        <p:scale>
          <a:sx n="125" d="100"/>
          <a:sy n="125" d="100"/>
        </p:scale>
        <p:origin x="1398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schemas.openxmlformats.org/officeDocument/2006/relationships/font" Target="fonts/font2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font" Target="fonts/font21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56" Type="http://schemas.openxmlformats.org/officeDocument/2006/relationships/font" Target="fonts/font24.fntdata"/><Relationship Id="rId8" Type="http://schemas.openxmlformats.org/officeDocument/2006/relationships/slide" Target="slides/slide7.xml"/><Relationship Id="rId51" Type="http://schemas.openxmlformats.org/officeDocument/2006/relationships/font" Target="fonts/font1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54" Type="http://schemas.openxmlformats.org/officeDocument/2006/relationships/font" Target="fonts/font2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52" Type="http://schemas.openxmlformats.org/officeDocument/2006/relationships/font" Target="fonts/font20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26deb13fb7a_1_63:notes"/>
          <p:cNvSpPr txBox="1">
            <a:spLocks noGrp="1"/>
          </p:cNvSpPr>
          <p:nvPr>
            <p:ph type="sldNum" idx="12"/>
          </p:nvPr>
        </p:nvSpPr>
        <p:spPr>
          <a:xfrm>
            <a:off x="3884414" y="8685893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g26deb13fb7a_1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g26deb13fb7a_1_63:notes"/>
          <p:cNvSpPr txBox="1">
            <a:spLocks noGrp="1"/>
          </p:cNvSpPr>
          <p:nvPr>
            <p:ph type="body" idx="1"/>
          </p:nvPr>
        </p:nvSpPr>
        <p:spPr>
          <a:xfrm>
            <a:off x="686098" y="4343703"/>
            <a:ext cx="5485800" cy="41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40f67e97a3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g240f67e97a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11d587b23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11d587b23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PH" dirty="0"/>
              <a:t>Or</a:t>
            </a:r>
            <a:endParaRPr dirty="0"/>
          </a:p>
        </p:txBody>
      </p:sp>
      <p:sp>
        <p:nvSpPr>
          <p:cNvPr id="60" name="Google Shape;60;g111d587b23b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40f67e97a3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40f67e97a3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" name="Google Shape;67;g240f67e97a3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BA0196-CAF8-41B9-B9B9-00511B4CEC25}" type="slidenum">
              <a:rPr lang="en-PH" smtClean="0"/>
              <a:t>6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757833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36125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84288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57648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63936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12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541161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BA0196-CAF8-41B9-B9B9-00511B4CEC25}" type="slidenum">
              <a:rPr lang="en-PH" smtClean="0"/>
              <a:t>13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9866988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40f67e97a3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40f67e97a3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7" name="Google Shape;207;g240f67e97a3_0_1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BA0196-CAF8-41B9-B9B9-00511B4CEC25}" type="slidenum">
              <a:rPr lang="en-PH" smtClean="0"/>
              <a:t>15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3003529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40f67e97a3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40f67e97a3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240f67e97a3_0_1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40f67e97a3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40f67e97a3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240f67e97a3_0_2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a limitation or restriction that you can set for the relationship of each entity</a:t>
            </a:r>
            <a:endParaRPr lang="en-PH" dirty="0"/>
          </a:p>
          <a:p>
            <a:endParaRPr lang="en-PH" dirty="0"/>
          </a:p>
          <a:p>
            <a:r>
              <a:rPr lang="en-PH" dirty="0"/>
              <a:t>Basketball 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BA0196-CAF8-41B9-B9B9-00511B4CEC25}" type="slidenum">
              <a:rPr lang="en-PH" smtClean="0"/>
              <a:t>22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3301028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BA0196-CAF8-41B9-B9B9-00511B4CEC25}" type="slidenum">
              <a:rPr lang="en-PH" smtClean="0"/>
              <a:t>24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5968787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BA0196-CAF8-41B9-B9B9-00511B4CEC25}" type="slidenum">
              <a:rPr lang="en-PH" smtClean="0"/>
              <a:t>25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1205262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BA0196-CAF8-41B9-B9B9-00511B4CEC25}" type="slidenum">
              <a:rPr lang="en-PH" smtClean="0"/>
              <a:t>26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238546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40f67e97a3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40f67e97a3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240f67e97a3_0_2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f0f886da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27f0f886da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g27f0f886da5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/>
        </p:nvSpPr>
        <p:spPr>
          <a:xfrm>
            <a:off x="628650" y="1988225"/>
            <a:ext cx="7886700" cy="16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179388" y="757238"/>
            <a:ext cx="88074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 Medium"/>
              <a:buNone/>
              <a:defRPr sz="3200" b="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 Medium"/>
              <a:buNone/>
              <a:defRPr b="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 Medium"/>
              <a:buNone/>
              <a:defRPr b="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 Medium"/>
              <a:buNone/>
              <a:defRPr b="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 Medium"/>
              <a:buNone/>
              <a:defRPr b="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 Medium"/>
              <a:buNone/>
              <a:defRPr b="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 Medium"/>
              <a:buNone/>
              <a:defRPr b="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 Medium"/>
              <a:buNone/>
              <a:defRPr b="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 Medium"/>
              <a:buNone/>
              <a:defRPr b="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179462" y="1369219"/>
            <a:ext cx="8807100" cy="34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▪"/>
              <a:defRPr/>
            </a:lvl1pPr>
            <a:lvl2pPr marL="914400" lvl="1" indent="-3937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−"/>
              <a:defRPr/>
            </a:lvl2pPr>
            <a:lvl3pPr marL="1371600" lvl="2" indent="-3937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−"/>
              <a:defRPr/>
            </a:lvl3pPr>
            <a:lvl4pPr marL="1828800" lvl="3" indent="-406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‧"/>
              <a:defRPr sz="2800"/>
            </a:lvl4pPr>
            <a:lvl5pPr marL="2286000" lvl="4" indent="-406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▪"/>
              <a:defRPr sz="2800"/>
            </a:lvl5pPr>
            <a:lvl6pPr marL="2743200" lvl="5" indent="-406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6pPr>
            <a:lvl7pPr marL="3200400" lvl="6" indent="-406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7pPr>
            <a:lvl8pPr marL="3657600" lvl="7" indent="-406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8pPr>
            <a:lvl9pPr marL="4114800" lvl="8" indent="-406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179388" y="757238"/>
            <a:ext cx="88074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79388" y="1369219"/>
            <a:ext cx="8807400" cy="33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37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Char char="▪"/>
              <a:defRPr sz="26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937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Char char="−"/>
              <a:defRPr sz="26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937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Char char="−"/>
              <a:defRPr sz="26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93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Char char="▪"/>
              <a:defRPr sz="26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93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Char char="▪"/>
              <a:defRPr sz="26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93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Char char="•"/>
              <a:defRPr sz="26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93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Char char="•"/>
              <a:defRPr sz="26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93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Char char="•"/>
              <a:defRPr sz="26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93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Char char="•"/>
              <a:defRPr sz="26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FelwUuLmSroTFT0Y-ZmisNe_KV3HkEbqwrJMct0n05A/export/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/>
        </p:nvSpPr>
        <p:spPr>
          <a:xfrm>
            <a:off x="773113" y="4483894"/>
            <a:ext cx="18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4" name="Google Shape;34;p6"/>
          <p:cNvGraphicFramePr/>
          <p:nvPr/>
        </p:nvGraphicFramePr>
        <p:xfrm>
          <a:off x="1080738" y="1694838"/>
          <a:ext cx="6982525" cy="918722"/>
        </p:xfrm>
        <a:graphic>
          <a:graphicData uri="http://schemas.openxmlformats.org/drawingml/2006/table">
            <a:tbl>
              <a:tblPr>
                <a:noFill/>
                <a:tableStyleId>{D229FD01-B2BF-4035-A695-1DC4AE7C5FC1}</a:tableStyleId>
              </a:tblPr>
              <a:tblGrid>
                <a:gridCol w="698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07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400" b="1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 Design: Entity-Relationship Model</a:t>
                      </a:r>
                      <a:endParaRPr sz="24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Topic No. 3</a:t>
                      </a:r>
                      <a:endParaRPr sz="1000" dirty="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5" name="Google Shape;35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l="14230" t="4352" r="14223" b="3439"/>
          <a:stretch/>
        </p:blipFill>
        <p:spPr>
          <a:xfrm>
            <a:off x="8304725" y="4063075"/>
            <a:ext cx="629225" cy="7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/>
          <p:nvPr/>
        </p:nvSpPr>
        <p:spPr>
          <a:xfrm>
            <a:off x="172475" y="144563"/>
            <a:ext cx="294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" name="Google Shape;37;p6"/>
          <p:cNvSpPr txBox="1"/>
          <p:nvPr/>
        </p:nvSpPr>
        <p:spPr>
          <a:xfrm>
            <a:off x="628650" y="876881"/>
            <a:ext cx="7886700" cy="6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ICS2607 Information Management</a:t>
            </a:r>
            <a:endParaRPr sz="2400" i="0" u="none" strike="noStrike" cap="none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8" name="Google Shape;38;p6"/>
          <p:cNvSpPr txBox="1"/>
          <p:nvPr/>
        </p:nvSpPr>
        <p:spPr>
          <a:xfrm>
            <a:off x="628650" y="3658999"/>
            <a:ext cx="7886700" cy="9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br>
              <a:rPr lang="en-US" sz="200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Information Technology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College of Information and Computing Sciences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University of Santo Tomas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179388" y="757238"/>
            <a:ext cx="88074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2500"/>
              <a:buFont typeface="Avenir"/>
              <a:buNone/>
            </a:pPr>
            <a:r>
              <a:rPr lang="en-US"/>
              <a:t>Intended Learning Outcomes</a:t>
            </a:r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179462" y="1369219"/>
            <a:ext cx="8807100" cy="34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en-US" sz="2300"/>
              <a:t>At the end of this topic, the learners will be able to:</a:t>
            </a:r>
            <a:endParaRPr sz="2300"/>
          </a:p>
          <a:p>
            <a:pPr marL="800100" lvl="1" indent="-3111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300"/>
              <a:buChar char="−"/>
            </a:pPr>
            <a:r>
              <a:rPr lang="en-US" sz="2300" b="1"/>
              <a:t>create</a:t>
            </a:r>
            <a:r>
              <a:rPr lang="en-US" sz="2300"/>
              <a:t> and </a:t>
            </a:r>
            <a:r>
              <a:rPr lang="en-US" sz="2300" b="1"/>
              <a:t>interpret</a:t>
            </a:r>
            <a:r>
              <a:rPr lang="en-US" sz="2300"/>
              <a:t> Entity-Relationship (ER) diagrams accurately, representing entities, attributes, relationships, and cardinality;</a:t>
            </a:r>
            <a:endParaRPr sz="2300"/>
          </a:p>
          <a:p>
            <a:pPr marL="800100" lvl="1" indent="-3111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300"/>
              <a:buChar char="−"/>
            </a:pPr>
            <a:r>
              <a:rPr lang="en-US" sz="2300" b="1"/>
              <a:t>design</a:t>
            </a:r>
            <a:r>
              <a:rPr lang="en-US" sz="2300"/>
              <a:t> a relational database schema by identifying entities, attributes, and relationships, and then apply normalization techniques to eliminate data redundancy, ensuring data integrity;</a:t>
            </a:r>
            <a:endParaRPr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179388" y="757238"/>
            <a:ext cx="88074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2500"/>
              <a:buFont typeface="Avenir"/>
              <a:buNone/>
            </a:pPr>
            <a:r>
              <a:rPr lang="en-US"/>
              <a:t>Intended Learning Outcomes</a:t>
            </a:r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1"/>
          </p:nvPr>
        </p:nvSpPr>
        <p:spPr>
          <a:xfrm>
            <a:off x="179462" y="1369219"/>
            <a:ext cx="8807100" cy="34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en-US" sz="2300"/>
              <a:t>At the end of this topic, the learners will be able to:</a:t>
            </a:r>
            <a:endParaRPr sz="2300"/>
          </a:p>
          <a:p>
            <a:pPr marL="800100" lvl="1" indent="-3111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300"/>
              <a:buChar char="−"/>
            </a:pPr>
            <a:r>
              <a:rPr lang="en-US" sz="2300" b="1"/>
              <a:t>define</a:t>
            </a:r>
            <a:r>
              <a:rPr lang="en-US" sz="2300"/>
              <a:t> and </a:t>
            </a:r>
            <a:r>
              <a:rPr lang="en-US" sz="2300" b="1"/>
              <a:t>apply</a:t>
            </a:r>
            <a:r>
              <a:rPr lang="en-US" sz="2300"/>
              <a:t> cardinality and participation constraints correctly within an ER diagram, understanding how they govern relationships between entities; and</a:t>
            </a:r>
            <a:endParaRPr sz="2300"/>
          </a:p>
          <a:p>
            <a:pPr marL="800100" lvl="1" indent="-3111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300"/>
              <a:buChar char="−"/>
            </a:pPr>
            <a:r>
              <a:rPr lang="en-US" sz="2300" b="1"/>
              <a:t>evaluate</a:t>
            </a:r>
            <a:r>
              <a:rPr lang="en-US" sz="2300"/>
              <a:t> a given database design, identifying potential improvements for efficiency, data integrity, and usability, and apply optimizations as needed.</a:t>
            </a:r>
            <a:endParaRPr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388" y="757238"/>
            <a:ext cx="8807400" cy="468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I: The Entity-Relationship Model</a:t>
            </a:r>
            <a:endParaRPr dirty="0"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179462" y="1369219"/>
            <a:ext cx="8807100" cy="3405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67" lvl="0" indent="-250817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500"/>
              <a:buFont typeface="Noto Sans Symbols"/>
              <a:buChar char="▪"/>
            </a:pPr>
            <a:r>
              <a:rPr lang="en-US" sz="2500" dirty="0"/>
              <a:t>The Entity-Relationship Model is a </a:t>
            </a:r>
            <a:r>
              <a:rPr lang="en-US" sz="2500" b="1" dirty="0"/>
              <a:t>conceptual</a:t>
            </a:r>
            <a:r>
              <a:rPr lang="en-US" sz="2500" dirty="0"/>
              <a:t> framework used in database design to describe the structure of a database. It focuses on representing entities (objects, concepts, things) and the relationships between them.</a:t>
            </a:r>
            <a:endParaRPr sz="2500" dirty="0"/>
          </a:p>
        </p:txBody>
      </p:sp>
      <p:sp>
        <p:nvSpPr>
          <p:cNvPr id="3" name="AutoShape 8" descr="Entity Relationship Model (ER model) in DBMS | PrepInsta">
            <a:extLst>
              <a:ext uri="{FF2B5EF4-FFF2-40B4-BE49-F238E27FC236}">
                <a16:creationId xmlns:a16="http://schemas.microsoft.com/office/drawing/2014/main" id="{CB2A618A-F1FA-3E79-4596-168B16F6AF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9C5A77-FE9B-5B40-B715-EDF428D8D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637" y="3334357"/>
            <a:ext cx="1807303" cy="14407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179388" y="757238"/>
            <a:ext cx="8807400" cy="468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Entity-Relationship Model</a:t>
            </a:r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179462" y="1369219"/>
            <a:ext cx="8807100" cy="3405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67" lvl="0" indent="-250817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500"/>
              <a:buFont typeface="Noto Sans Symbols"/>
              <a:buChar char="▪"/>
            </a:pPr>
            <a:r>
              <a:rPr lang="en-US" sz="2500" dirty="0"/>
              <a:t>An </a:t>
            </a:r>
            <a:r>
              <a:rPr lang="en-US" sz="2500" b="1" dirty="0"/>
              <a:t>Entity-Relationship Diagram (ERD)</a:t>
            </a:r>
            <a:r>
              <a:rPr lang="en-US" sz="2500" dirty="0"/>
              <a:t> is a visual representation of the Entity-Relationship Model. It is a diagrammatic way to illustrate the entities, attributes, and relationships within a database system. </a:t>
            </a:r>
            <a:endParaRPr sz="2500" dirty="0"/>
          </a:p>
        </p:txBody>
      </p:sp>
      <p:pic>
        <p:nvPicPr>
          <p:cNvPr id="2050" name="Picture 2" descr="ER Diagram for Student Management System">
            <a:extLst>
              <a:ext uri="{FF2B5EF4-FFF2-40B4-BE49-F238E27FC236}">
                <a16:creationId xmlns:a16="http://schemas.microsoft.com/office/drawing/2014/main" id="{2F6A5DC9-141F-AD90-B0CD-17AC441BA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432" y="3323662"/>
            <a:ext cx="1929918" cy="1595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Entity Relationship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500" b="1" dirty="0"/>
              <a:t> </a:t>
            </a:r>
            <a:r>
              <a:rPr lang="en-US" sz="2500" dirty="0"/>
              <a:t>The</a:t>
            </a:r>
            <a:r>
              <a:rPr lang="en-US" sz="2500" b="1" dirty="0"/>
              <a:t> ER Model </a:t>
            </a:r>
            <a:r>
              <a:rPr lang="en-US" sz="2500" dirty="0"/>
              <a:t>approach to data modeling is proposed by P. Chen in 1976. The model says that you divide your database into two logical parts, </a:t>
            </a:r>
            <a:r>
              <a:rPr lang="en-US" sz="2500" b="1" dirty="0"/>
              <a:t>entities</a:t>
            </a:r>
            <a:r>
              <a:rPr lang="en-US" sz="2500" dirty="0"/>
              <a:t> (e.g. "customer", "product") and </a:t>
            </a:r>
            <a:r>
              <a:rPr lang="en-US" sz="2500" b="1" dirty="0"/>
              <a:t>relations</a:t>
            </a:r>
            <a:r>
              <a:rPr lang="en-US" sz="2500" dirty="0"/>
              <a:t> ("buys", "pays for").</a:t>
            </a:r>
            <a:endParaRPr lang="en-PH" sz="2500" dirty="0"/>
          </a:p>
        </p:txBody>
      </p:sp>
    </p:spTree>
    <p:extLst>
      <p:ext uri="{BB962C8B-B14F-4D97-AF65-F5344CB8AC3E}">
        <p14:creationId xmlns:p14="http://schemas.microsoft.com/office/powerpoint/2010/main" val="3742504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Entity Relationship Modelling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080" y="1225238"/>
            <a:ext cx="8557260" cy="3248696"/>
          </a:xfrm>
        </p:spPr>
        <p:txBody>
          <a:bodyPr>
            <a:normAutofit fontScale="25000" lnSpcReduction="20000"/>
          </a:bodyPr>
          <a:lstStyle/>
          <a:p>
            <a:r>
              <a:rPr lang="en-PH" sz="6300" dirty="0"/>
              <a:t>Entity (                - entity symbol )</a:t>
            </a:r>
          </a:p>
          <a:p>
            <a:pPr marL="0" indent="0">
              <a:buNone/>
            </a:pPr>
            <a:r>
              <a:rPr lang="en-PH" sz="6300" dirty="0"/>
              <a:t>	- A collection of things that share common properties or characteristics </a:t>
            </a:r>
          </a:p>
          <a:p>
            <a:pPr marL="0" indent="0">
              <a:buNone/>
            </a:pPr>
            <a:r>
              <a:rPr lang="en-PH" sz="6300" dirty="0"/>
              <a:t>	- In a database, anything about which information can be stored; for example, a person, concept, physical object or event. Typically refers to a record structure.</a:t>
            </a:r>
          </a:p>
          <a:p>
            <a:pPr marL="0" indent="0">
              <a:buNone/>
            </a:pPr>
            <a:r>
              <a:rPr lang="en-PH" sz="6300" dirty="0"/>
              <a:t>	May describe:</a:t>
            </a:r>
          </a:p>
          <a:p>
            <a:pPr marL="0" indent="0">
              <a:buNone/>
            </a:pPr>
            <a:r>
              <a:rPr lang="en-PH" sz="6300" dirty="0"/>
              <a:t>		Roles-people or organizations: EMPLOYEE </a:t>
            </a:r>
          </a:p>
          <a:p>
            <a:pPr marL="0" indent="0">
              <a:buNone/>
            </a:pPr>
            <a:r>
              <a:rPr lang="en-PH" sz="6300" dirty="0"/>
              <a:t>		Tangible things: MACHINE, BUILDING </a:t>
            </a:r>
          </a:p>
          <a:p>
            <a:pPr marL="0" indent="0">
              <a:buNone/>
            </a:pPr>
            <a:r>
              <a:rPr lang="en-PH" sz="6300" dirty="0"/>
              <a:t>		Events: SALE, REGISTRATION </a:t>
            </a:r>
          </a:p>
          <a:p>
            <a:pPr marL="0" indent="0">
              <a:buNone/>
            </a:pPr>
            <a:r>
              <a:rPr lang="en-PH" sz="6300" dirty="0"/>
              <a:t>		Locations: STATE, BRANCH </a:t>
            </a:r>
          </a:p>
          <a:p>
            <a:pPr marL="0" indent="0">
              <a:buNone/>
            </a:pPr>
            <a:r>
              <a:rPr lang="en-PH" sz="6300" dirty="0"/>
              <a:t>		Concepts: COURSE</a:t>
            </a:r>
          </a:p>
          <a:p>
            <a:endParaRPr lang="en-PH" dirty="0"/>
          </a:p>
        </p:txBody>
      </p:sp>
      <p:sp>
        <p:nvSpPr>
          <p:cNvPr id="8" name="Rectangle 7"/>
          <p:cNvSpPr/>
          <p:nvPr/>
        </p:nvSpPr>
        <p:spPr>
          <a:xfrm>
            <a:off x="1600308" y="1358078"/>
            <a:ext cx="662832" cy="2497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 sz="1050" dirty="0"/>
          </a:p>
        </p:txBody>
      </p:sp>
      <p:pic>
        <p:nvPicPr>
          <p:cNvPr id="3074" name="Picture 2" descr="What is an Entity, Entity Type and Entity Set?">
            <a:extLst>
              <a:ext uri="{FF2B5EF4-FFF2-40B4-BE49-F238E27FC236}">
                <a16:creationId xmlns:a16="http://schemas.microsoft.com/office/drawing/2014/main" id="{40B90C4C-B5C1-32B9-8BB1-C4D974CE0C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987"/>
          <a:stretch/>
        </p:blipFill>
        <p:spPr bwMode="auto">
          <a:xfrm>
            <a:off x="6345444" y="3509163"/>
            <a:ext cx="2641344" cy="1189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2900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AFA223-9C70-3D8F-6F4B-69325AC8F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60784" y="2652547"/>
            <a:ext cx="5459215" cy="1633327"/>
          </a:xfrm>
        </p:spPr>
        <p:txBody>
          <a:bodyPr/>
          <a:lstStyle/>
          <a:p>
            <a:endParaRPr lang="en-PH" dirty="0"/>
          </a:p>
        </p:txBody>
      </p:sp>
      <p:pic>
        <p:nvPicPr>
          <p:cNvPr id="4098" name="Picture 2" descr="How to Remove Records from Table With MySQL Workbench?">
            <a:extLst>
              <a:ext uri="{FF2B5EF4-FFF2-40B4-BE49-F238E27FC236}">
                <a16:creationId xmlns:a16="http://schemas.microsoft.com/office/drawing/2014/main" id="{148E9320-D897-D939-28D7-70B9F3577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857626"/>
            <a:ext cx="4712653" cy="377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A246D90-3849-2065-6216-0B86962B8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2274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Entity Relationship Model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29864"/>
          <a:stretch/>
        </p:blipFill>
        <p:spPr>
          <a:xfrm>
            <a:off x="1225638" y="1057598"/>
            <a:ext cx="6417221" cy="3849682"/>
          </a:xfrm>
          <a:prstGeom prst="rect">
            <a:avLst/>
          </a:prstGeom>
        </p:spPr>
      </p:pic>
      <p:pic>
        <p:nvPicPr>
          <p:cNvPr id="3" name="Picture 2" descr="What is an Entity, Entity Type and Entity Set?">
            <a:extLst>
              <a:ext uri="{FF2B5EF4-FFF2-40B4-BE49-F238E27FC236}">
                <a16:creationId xmlns:a16="http://schemas.microsoft.com/office/drawing/2014/main" id="{19894FFE-2AF9-BE87-5326-41C47392F5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987"/>
          <a:stretch/>
        </p:blipFill>
        <p:spPr bwMode="auto">
          <a:xfrm>
            <a:off x="6047765" y="930838"/>
            <a:ext cx="2641344" cy="1189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823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Entity Relationship Modelling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388" y="1072167"/>
            <a:ext cx="8415971" cy="3591273"/>
          </a:xfrm>
        </p:spPr>
        <p:txBody>
          <a:bodyPr>
            <a:normAutofit fontScale="47500" lnSpcReduction="20000"/>
          </a:bodyPr>
          <a:lstStyle/>
          <a:p>
            <a:r>
              <a:rPr lang="en-PH" sz="4000" b="1" dirty="0"/>
              <a:t>Types of Attributes</a:t>
            </a:r>
            <a:endParaRPr lang="en-PH" dirty="0"/>
          </a:p>
          <a:p>
            <a:pPr marL="0" indent="0">
              <a:buNone/>
            </a:pPr>
            <a:r>
              <a:rPr lang="en-PH" dirty="0"/>
              <a:t>	1.</a:t>
            </a:r>
            <a:r>
              <a:rPr lang="en-PH" b="1" dirty="0"/>
              <a:t>Composite</a:t>
            </a:r>
            <a:r>
              <a:rPr lang="en-PH" dirty="0"/>
              <a:t> – can be divided into simple attributes (e.g., Address, Street, Barangay, City)</a:t>
            </a:r>
          </a:p>
          <a:p>
            <a:pPr marL="0" indent="0">
              <a:buNone/>
            </a:pPr>
            <a:endParaRPr lang="en-PH" b="1" dirty="0"/>
          </a:p>
          <a:p>
            <a:pPr marL="0" indent="0">
              <a:buNone/>
            </a:pPr>
            <a:r>
              <a:rPr lang="en-PH" dirty="0"/>
              <a:t>	2. </a:t>
            </a:r>
            <a:r>
              <a:rPr lang="en-PH" b="1" dirty="0"/>
              <a:t>Simple or Atomic </a:t>
            </a:r>
            <a:r>
              <a:rPr lang="en-PH" dirty="0"/>
              <a:t>– indivisible (e.g., Age)</a:t>
            </a:r>
          </a:p>
          <a:p>
            <a:pPr marL="0" indent="0">
              <a:buNone/>
            </a:pPr>
            <a:endParaRPr lang="en-PH" dirty="0"/>
          </a:p>
          <a:p>
            <a:pPr marL="0" indent="0">
              <a:buNone/>
            </a:pPr>
            <a:r>
              <a:rPr lang="en-PH" dirty="0"/>
              <a:t>	3.</a:t>
            </a:r>
            <a:r>
              <a:rPr lang="en-PH" b="1" dirty="0"/>
              <a:t>Single-Valued</a:t>
            </a:r>
            <a:r>
              <a:rPr lang="en-PH" dirty="0"/>
              <a:t> – a single value attribute (e.g., Age = 27)</a:t>
            </a:r>
          </a:p>
          <a:p>
            <a:endParaRPr lang="en-PH" dirty="0"/>
          </a:p>
          <a:p>
            <a:pPr marL="0" indent="0">
              <a:buNone/>
            </a:pPr>
            <a:r>
              <a:rPr lang="en-PH" dirty="0"/>
              <a:t>	4.</a:t>
            </a:r>
            <a:r>
              <a:rPr lang="en-PH" b="1" dirty="0"/>
              <a:t>Multi-Valued</a:t>
            </a:r>
            <a:r>
              <a:rPr lang="en-PH" dirty="0"/>
              <a:t> – an attribute can have multiple values (e.g., College Degree = BSCS, BSBA, BEED)</a:t>
            </a:r>
          </a:p>
          <a:p>
            <a:pPr marL="0" indent="0">
              <a:buNone/>
            </a:pPr>
            <a:r>
              <a:rPr lang="en-PH" dirty="0"/>
              <a:t>	5.</a:t>
            </a:r>
            <a:r>
              <a:rPr lang="en-PH" b="1" dirty="0"/>
              <a:t>Derived</a:t>
            </a:r>
            <a:r>
              <a:rPr lang="en-PH" dirty="0"/>
              <a:t> – value of an attribute that is derived from another attribute (e.g., Age is derived from Birthday and Current Date, Birthday and Current Date are related attributes)</a:t>
            </a:r>
          </a:p>
          <a:p>
            <a:endParaRPr lang="en-PH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211207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Entity Relationship Modelling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240" y="1275009"/>
            <a:ext cx="6297769" cy="33517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7296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Relationship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26329"/>
          <a:stretch/>
        </p:blipFill>
        <p:spPr>
          <a:xfrm>
            <a:off x="1356360" y="1090680"/>
            <a:ext cx="6206758" cy="3978968"/>
          </a:xfrm>
          <a:prstGeom prst="rect">
            <a:avLst/>
          </a:prstGeom>
        </p:spPr>
      </p:pic>
      <p:sp>
        <p:nvSpPr>
          <p:cNvPr id="5" name="Diamond 4"/>
          <p:cNvSpPr/>
          <p:nvPr/>
        </p:nvSpPr>
        <p:spPr>
          <a:xfrm>
            <a:off x="2620099" y="1023305"/>
            <a:ext cx="482958" cy="403865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 sz="1050" dirty="0"/>
          </a:p>
        </p:txBody>
      </p:sp>
    </p:spTree>
    <p:extLst>
      <p:ext uri="{BB962C8B-B14F-4D97-AF65-F5344CB8AC3E}">
        <p14:creationId xmlns:p14="http://schemas.microsoft.com/office/powerpoint/2010/main" val="1021201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Relationship</a:t>
            </a:r>
            <a:endParaRPr lang="en-PH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08618" y="1852949"/>
            <a:ext cx="7126764" cy="205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062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>
            <a:spLocks noGrp="1"/>
          </p:cNvSpPr>
          <p:nvPr>
            <p:ph type="title"/>
          </p:nvPr>
        </p:nvSpPr>
        <p:spPr>
          <a:xfrm>
            <a:off x="179388" y="757238"/>
            <a:ext cx="8807400" cy="468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Relationships</a:t>
            </a:r>
            <a:endParaRPr/>
          </a:p>
        </p:txBody>
      </p:sp>
      <p:sp>
        <p:nvSpPr>
          <p:cNvPr id="210" name="Google Shape;210;p30"/>
          <p:cNvSpPr txBox="1">
            <a:spLocks noGrp="1"/>
          </p:cNvSpPr>
          <p:nvPr>
            <p:ph type="body" idx="1"/>
          </p:nvPr>
        </p:nvSpPr>
        <p:spPr>
          <a:xfrm>
            <a:off x="179462" y="1369219"/>
            <a:ext cx="8807100" cy="3405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937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1 : 1 Relationship</a:t>
            </a:r>
            <a:endParaRPr/>
          </a:p>
        </p:txBody>
      </p:sp>
      <p:pic>
        <p:nvPicPr>
          <p:cNvPr id="211" name="Google Shape;211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2500" y="993025"/>
            <a:ext cx="4872908" cy="3782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Types of Relationship</a:t>
            </a:r>
          </a:p>
        </p:txBody>
      </p:sp>
      <p:pic>
        <p:nvPicPr>
          <p:cNvPr id="16" name="Content Placeholder 1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30281" y="1699207"/>
            <a:ext cx="6756377" cy="242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382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>
            <a:spLocks noGrp="1"/>
          </p:cNvSpPr>
          <p:nvPr>
            <p:ph type="title"/>
          </p:nvPr>
        </p:nvSpPr>
        <p:spPr>
          <a:xfrm>
            <a:off x="179388" y="757238"/>
            <a:ext cx="8807400" cy="468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Relationships</a:t>
            </a:r>
            <a:endParaRPr/>
          </a:p>
        </p:txBody>
      </p:sp>
      <p:sp>
        <p:nvSpPr>
          <p:cNvPr id="218" name="Google Shape;218;p31"/>
          <p:cNvSpPr txBox="1">
            <a:spLocks noGrp="1"/>
          </p:cNvSpPr>
          <p:nvPr>
            <p:ph type="body" idx="1"/>
          </p:nvPr>
        </p:nvSpPr>
        <p:spPr>
          <a:xfrm>
            <a:off x="179462" y="1369219"/>
            <a:ext cx="8807100" cy="3405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937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1 : M Relationship</a:t>
            </a:r>
            <a:endParaRPr/>
          </a:p>
        </p:txBody>
      </p:sp>
      <p:pic>
        <p:nvPicPr>
          <p:cNvPr id="219" name="Google Shape;219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66725" y="917871"/>
            <a:ext cx="5029200" cy="3857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Types of Relationship</a:t>
            </a:r>
          </a:p>
        </p:txBody>
      </p:sp>
      <p:pic>
        <p:nvPicPr>
          <p:cNvPr id="17" name="Content Placeholder 1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5437" y="1606075"/>
            <a:ext cx="7213022" cy="248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418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>
            <a:spLocks noGrp="1"/>
          </p:cNvSpPr>
          <p:nvPr>
            <p:ph type="title"/>
          </p:nvPr>
        </p:nvSpPr>
        <p:spPr>
          <a:xfrm>
            <a:off x="179388" y="757238"/>
            <a:ext cx="8807400" cy="468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Relationships</a:t>
            </a:r>
            <a:endParaRPr/>
          </a:p>
        </p:txBody>
      </p:sp>
      <p:sp>
        <p:nvSpPr>
          <p:cNvPr id="226" name="Google Shape;226;p32"/>
          <p:cNvSpPr txBox="1">
            <a:spLocks noGrp="1"/>
          </p:cNvSpPr>
          <p:nvPr>
            <p:ph type="body" idx="1"/>
          </p:nvPr>
        </p:nvSpPr>
        <p:spPr>
          <a:xfrm>
            <a:off x="179462" y="1369219"/>
            <a:ext cx="8807100" cy="3405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937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M : M Relationship</a:t>
            </a:r>
            <a:endParaRPr/>
          </a:p>
        </p:txBody>
      </p:sp>
      <p:pic>
        <p:nvPicPr>
          <p:cNvPr id="227" name="Google Shape;227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29475" y="757250"/>
            <a:ext cx="4427480" cy="401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Degree of Relationship</a:t>
            </a:r>
            <a:br>
              <a:rPr lang="en-PH" dirty="0"/>
            </a:br>
            <a:endParaRPr lang="en-PH" dirty="0"/>
          </a:p>
        </p:txBody>
      </p:sp>
      <p:pic>
        <p:nvPicPr>
          <p:cNvPr id="18" name="Content Placeholder 1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360" y="1428750"/>
            <a:ext cx="6380660" cy="301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91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Degree of Relationship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4429" y="1709671"/>
            <a:ext cx="7500184" cy="194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28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Degree of Relationship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9051" y="1428750"/>
            <a:ext cx="6696882" cy="280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32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Cardinality Constrains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00075" lvl="1" indent="-257175">
              <a:buFont typeface="+mj-lt"/>
              <a:buAutoNum type="arabicPeriod"/>
            </a:pPr>
            <a:r>
              <a:rPr lang="en-US" sz="1500" b="1" dirty="0"/>
              <a:t>Minimum cardinality </a:t>
            </a:r>
            <a:r>
              <a:rPr lang="en-US" sz="1500" dirty="0"/>
              <a:t>– the minimum number of instances of one entity that may be associated with each instance of another entity</a:t>
            </a:r>
          </a:p>
          <a:p>
            <a:pPr marL="342900" lvl="1" indent="0">
              <a:buNone/>
            </a:pPr>
            <a:endParaRPr lang="en-PH" sz="2400" dirty="0"/>
          </a:p>
          <a:p>
            <a:pPr marL="600075" lvl="1" indent="-257175">
              <a:buFont typeface="+mj-lt"/>
              <a:buAutoNum type="arabicPeriod"/>
            </a:pPr>
            <a:r>
              <a:rPr lang="en-US" sz="1500" b="1" dirty="0"/>
              <a:t>Maximum cardinality </a:t>
            </a:r>
            <a:r>
              <a:rPr lang="en-US" sz="1500" dirty="0"/>
              <a:t>– the maximum number of instances of one entity that may be associated with a single occurrence of another entity</a:t>
            </a:r>
            <a:endParaRPr lang="en-PH" sz="2400" dirty="0"/>
          </a:p>
        </p:txBody>
      </p:sp>
    </p:spTree>
    <p:extLst>
      <p:ext uri="{BB962C8B-B14F-4D97-AF65-F5344CB8AC3E}">
        <p14:creationId xmlns:p14="http://schemas.microsoft.com/office/powerpoint/2010/main" val="1409739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 dirty="0"/>
          </a:p>
        </p:txBody>
      </p:sp>
      <p:pic>
        <p:nvPicPr>
          <p:cNvPr id="26" name="Content Placeholder 2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9794" y="1116886"/>
            <a:ext cx="7696811" cy="328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7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Relationship Cardinality</a:t>
            </a:r>
            <a:br>
              <a:rPr lang="en-PH" dirty="0"/>
            </a:br>
            <a:r>
              <a:rPr lang="en-US" b="1" dirty="0"/>
              <a:t> </a:t>
            </a:r>
            <a:endParaRPr lang="en-PH" dirty="0"/>
          </a:p>
        </p:txBody>
      </p:sp>
      <p:pic>
        <p:nvPicPr>
          <p:cNvPr id="15" name="Content Placeholder 14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52322"/>
          <a:stretch/>
        </p:blipFill>
        <p:spPr>
          <a:xfrm>
            <a:off x="2228599" y="1814244"/>
            <a:ext cx="5264480" cy="195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979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Relationship Cardinality</a:t>
            </a:r>
          </a:p>
        </p:txBody>
      </p:sp>
      <p:pic>
        <p:nvPicPr>
          <p:cNvPr id="14" name="Content Placeholder 1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14464" y="1864217"/>
            <a:ext cx="9043805" cy="160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3946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Relationship Cardinality</a:t>
            </a:r>
          </a:p>
        </p:txBody>
      </p:sp>
      <p:pic>
        <p:nvPicPr>
          <p:cNvPr id="22" name="Content Placeholder 21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47334"/>
          <a:stretch/>
        </p:blipFill>
        <p:spPr>
          <a:xfrm>
            <a:off x="3197384" y="1584101"/>
            <a:ext cx="3660616" cy="270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64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 txBox="1">
            <a:spLocks noGrp="1"/>
          </p:cNvSpPr>
          <p:nvPr>
            <p:ph type="title"/>
          </p:nvPr>
        </p:nvSpPr>
        <p:spPr>
          <a:xfrm>
            <a:off x="179388" y="757238"/>
            <a:ext cx="8807400" cy="468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Connectivity and Cardinality</a:t>
            </a:r>
            <a:endParaRPr/>
          </a:p>
        </p:txBody>
      </p:sp>
      <p:sp>
        <p:nvSpPr>
          <p:cNvPr id="249" name="Google Shape;249;p35"/>
          <p:cNvSpPr txBox="1">
            <a:spLocks noGrp="1"/>
          </p:cNvSpPr>
          <p:nvPr>
            <p:ph type="body" idx="1"/>
          </p:nvPr>
        </p:nvSpPr>
        <p:spPr>
          <a:xfrm>
            <a:off x="179462" y="1369219"/>
            <a:ext cx="8807100" cy="3405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0" name="Google Shape;250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851" y="1240914"/>
            <a:ext cx="3797100" cy="34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1993" y="1206725"/>
            <a:ext cx="3924884" cy="354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6508" y="378726"/>
            <a:ext cx="7911952" cy="4667534"/>
          </a:xfrm>
        </p:spPr>
        <p:txBody>
          <a:bodyPr>
            <a:normAutofit fontScale="92500" lnSpcReduction="20000"/>
          </a:bodyPr>
          <a:lstStyle/>
          <a:p>
            <a:r>
              <a:rPr lang="en-PH" dirty="0"/>
              <a:t>Exercises</a:t>
            </a:r>
          </a:p>
          <a:p>
            <a:r>
              <a:rPr lang="en-PH" dirty="0"/>
              <a:t>Given the following business rules, create the appropriate Crow’s Foot ERD.</a:t>
            </a:r>
          </a:p>
          <a:p>
            <a:r>
              <a:rPr lang="en-PH" dirty="0"/>
              <a:t>a.	A company operates many departments.</a:t>
            </a:r>
          </a:p>
          <a:p>
            <a:r>
              <a:rPr lang="en-PH" dirty="0"/>
              <a:t>b.	Each department employs  should one or more employees.</a:t>
            </a:r>
          </a:p>
          <a:p>
            <a:r>
              <a:rPr lang="en-PH" dirty="0"/>
              <a:t>c.	Each of the employees may or may not have one or more dependents.</a:t>
            </a:r>
          </a:p>
          <a:p>
            <a:r>
              <a:rPr lang="en-PH" dirty="0"/>
              <a:t>d.	Each employee may or may not have an employment history.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7629352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6508" y="378726"/>
            <a:ext cx="7911952" cy="4667534"/>
          </a:xfrm>
        </p:spPr>
        <p:txBody>
          <a:bodyPr>
            <a:normAutofit fontScale="92500" lnSpcReduction="20000"/>
          </a:bodyPr>
          <a:lstStyle/>
          <a:p>
            <a:r>
              <a:rPr lang="en-PH" dirty="0"/>
              <a:t>Exercises</a:t>
            </a:r>
          </a:p>
          <a:p>
            <a:r>
              <a:rPr lang="en-PH" dirty="0"/>
              <a:t>Given the following business rules, create the appropriate Crow’s Foot ERD.</a:t>
            </a:r>
          </a:p>
          <a:p>
            <a:r>
              <a:rPr lang="en-PH" dirty="0"/>
              <a:t>a.	A company operates many departments.</a:t>
            </a:r>
          </a:p>
          <a:p>
            <a:r>
              <a:rPr lang="en-PH" dirty="0"/>
              <a:t>b.	Each department employs  should one or more employees.</a:t>
            </a:r>
          </a:p>
          <a:p>
            <a:r>
              <a:rPr lang="en-PH" dirty="0"/>
              <a:t>c.	Each of the employees may or may not have one or more dependents.</a:t>
            </a:r>
          </a:p>
          <a:p>
            <a:r>
              <a:rPr lang="en-PH" dirty="0"/>
              <a:t>d.	Each employee may or may not have an employment history.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655828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5"/>
          <p:cNvSpPr txBox="1">
            <a:spLocks noGrp="1"/>
          </p:cNvSpPr>
          <p:nvPr>
            <p:ph type="title"/>
          </p:nvPr>
        </p:nvSpPr>
        <p:spPr>
          <a:xfrm>
            <a:off x="179388" y="757238"/>
            <a:ext cx="8807400" cy="468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Car Dealership</a:t>
            </a:r>
            <a:endParaRPr/>
          </a:p>
        </p:txBody>
      </p:sp>
      <p:sp>
        <p:nvSpPr>
          <p:cNvPr id="405" name="Google Shape;405;p55"/>
          <p:cNvSpPr txBox="1">
            <a:spLocks noGrp="1"/>
          </p:cNvSpPr>
          <p:nvPr>
            <p:ph type="body" idx="1"/>
          </p:nvPr>
        </p:nvSpPr>
        <p:spPr>
          <a:xfrm>
            <a:off x="179462" y="1369219"/>
            <a:ext cx="8807100" cy="3405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dirty="0"/>
              <a:t>Create an ERD for a car dealership. The dealership sells both new and used cars, and it operates a service facility. Base your design on the following business rules:</a:t>
            </a:r>
            <a:endParaRPr sz="1900" dirty="0"/>
          </a:p>
          <a:p>
            <a:pPr marL="457200" lvl="0" indent="-349250" algn="l" rtl="0">
              <a:spcBef>
                <a:spcPts val="1000"/>
              </a:spcBef>
              <a:spcAft>
                <a:spcPts val="0"/>
              </a:spcAft>
              <a:buSzPts val="1900"/>
              <a:buChar char="▪"/>
            </a:pPr>
            <a:r>
              <a:rPr lang="en-US" sz="1900" dirty="0"/>
              <a:t>A salesperson may sell many cars, but each car is sold by only one salesperson.</a:t>
            </a:r>
            <a:endParaRPr sz="1900" dirty="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1900" dirty="0"/>
              <a:t>A customer may buy many cars, but each car is bought by only one customer.</a:t>
            </a:r>
            <a:endParaRPr sz="1900" dirty="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1900" dirty="0"/>
              <a:t>A salesperson writes a single invoice for each car he or she sells.</a:t>
            </a:r>
            <a:endParaRPr sz="1900" dirty="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▪"/>
            </a:pPr>
            <a:r>
              <a:rPr lang="en-US" sz="1900" dirty="0"/>
              <a:t>A customer gets an invoice for each car he or she buys.</a:t>
            </a:r>
            <a:endParaRPr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ndSem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868</Words>
  <Application>Microsoft Office PowerPoint</Application>
  <PresentationFormat>On-screen Show (16:9)</PresentationFormat>
  <Paragraphs>105</Paragraphs>
  <Slides>30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Arial</vt:lpstr>
      <vt:lpstr>Red Hat Display</vt:lpstr>
      <vt:lpstr>Times New Roman</vt:lpstr>
      <vt:lpstr>Century Gothic</vt:lpstr>
      <vt:lpstr>Poppins Medium</vt:lpstr>
      <vt:lpstr>Avenir</vt:lpstr>
      <vt:lpstr>Arial</vt:lpstr>
      <vt:lpstr>Roboto</vt:lpstr>
      <vt:lpstr>Calibri</vt:lpstr>
      <vt:lpstr>Poppins</vt:lpstr>
      <vt:lpstr>Noto Sans Symbols</vt:lpstr>
      <vt:lpstr>2ndSemTheme</vt:lpstr>
      <vt:lpstr>PowerPoint Presentation</vt:lpstr>
      <vt:lpstr>Intended Learning Outcomes</vt:lpstr>
      <vt:lpstr>Intended Learning Outcomes</vt:lpstr>
      <vt:lpstr>I: The Entity-Relationship Model</vt:lpstr>
      <vt:lpstr>The Entity-Relationship Model</vt:lpstr>
      <vt:lpstr>Entity Relationship Model</vt:lpstr>
      <vt:lpstr>Entity Relationship Modelling</vt:lpstr>
      <vt:lpstr>PowerPoint Presentation</vt:lpstr>
      <vt:lpstr>Entity Relationship Model</vt:lpstr>
      <vt:lpstr>Entity Relationship Modelling</vt:lpstr>
      <vt:lpstr>Entity Relationship Modelling</vt:lpstr>
      <vt:lpstr>Relationship</vt:lpstr>
      <vt:lpstr>Types of Relationship</vt:lpstr>
      <vt:lpstr>Relationships</vt:lpstr>
      <vt:lpstr>Types of Relationship</vt:lpstr>
      <vt:lpstr>Relationships</vt:lpstr>
      <vt:lpstr>Types of Relationship</vt:lpstr>
      <vt:lpstr>Relationships</vt:lpstr>
      <vt:lpstr>Degree of Relationship </vt:lpstr>
      <vt:lpstr>Degree of Relationship</vt:lpstr>
      <vt:lpstr>Degree of Relationship</vt:lpstr>
      <vt:lpstr>Cardinality Constrains</vt:lpstr>
      <vt:lpstr>PowerPoint Presentation</vt:lpstr>
      <vt:lpstr>Relationship Cardinality  </vt:lpstr>
      <vt:lpstr>Relationship Cardinality</vt:lpstr>
      <vt:lpstr>Relationship Cardinality</vt:lpstr>
      <vt:lpstr>Connectivity and Cardinality</vt:lpstr>
      <vt:lpstr>PowerPoint Presentation</vt:lpstr>
      <vt:lpstr>PowerPoint Presentation</vt:lpstr>
      <vt:lpstr>Example: Car Dealership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RheaTheGreat</dc:creator>
  <cp:lastModifiedBy>RheaTheGreat</cp:lastModifiedBy>
  <cp:revision>10</cp:revision>
  <dcterms:modified xsi:type="dcterms:W3CDTF">2023-09-18T07:00:22Z</dcterms:modified>
</cp:coreProperties>
</file>